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4581-5560-1C39-F2E8-7A17E8DC8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AF618-1FF4-34A3-D015-F2E4844F9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FE04B-272B-316F-D483-50491877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1F61A-258D-27DF-2CEC-82987254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CF3C1-B363-29C8-823A-69F82F19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713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DD44-2ADE-1CF1-FADB-98048B9E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F900-D207-3B1D-5BB9-935DCFB28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8FD1-FBC8-689F-863F-65512042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09A26-3F10-04A0-2145-4B358BD7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F744-FDDA-916B-BB15-2F57DF02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258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E6A7-B78C-4E09-9444-841B3798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8CD76-E31B-0271-7951-FE375A5CF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8F6B-F7F5-B936-04F2-86360C04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9355-A663-1267-B72E-1FD2F92B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F560E-C784-6171-64D4-42C15F2C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356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25D4-84C8-2D57-94D8-3A952BDC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1C90-8B22-8C1B-7A75-315C3BCC6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FE5E4-4D87-CA58-A165-FBB7164C5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CDBD7-204F-E61D-1E2D-929A4BA6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1A100-8D55-19C4-337A-9F638CB9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FAB82-5530-52D1-9072-8FE2E3F0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162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4468-ACB9-A1B0-740C-EF3CA980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B81B-16A9-8DB6-1AF2-30AC503E1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3311F-FC75-B5C3-1DDC-C877E85B3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10D3B-0ABC-55AB-5859-66BE90415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62ED3-75BC-479C-F657-8CEF257A5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AD24F-2A67-A31A-ECC8-8F460672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CA47F-1307-C997-5E00-153D3D34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48D87-BC39-CCE3-CBCE-3BD7D87B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152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A335-3561-1897-1122-A1D19065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27D5B-F2B7-3832-EE3F-0AE98061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07D12-40BC-750D-7EE7-AABBF752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C360B-7863-5F50-A598-5BE657FF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25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67A8C-7172-CF91-CA75-E137CB31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DA7D6-123F-D2ED-B496-8EB8D444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EE25E-9344-27F2-30A7-F61CA2B1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798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1667-491D-AF23-51FA-11DEE88E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2ABF9-9907-609D-6B7F-AB81E44D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0263F-9FE7-3BC5-BE65-2C7696D10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F8A37-7F55-546F-1BD6-EDC60EEE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BADF2-80C7-23C4-4B83-EF55992B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CFDEE-1A86-0828-988F-89EAD67B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733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9B92-C1B9-CDEB-0AB6-ED0BDD66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AFE31-31B6-DCB7-4240-81F397B8EB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632C2-FD54-9BFE-8C60-6CC7AE359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C1A75-59DD-4EC1-D485-4501C63B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8447E-70EC-F873-B64C-74D0F27C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5B071-3FB4-7A5D-7857-41117553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416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A2AE-1C9B-85CE-BDAC-839084EF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99E10-0E5C-6B6A-6B2C-E3587480D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39101-9140-F2DF-3292-2E0FBF44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045B7-7B41-6530-3D9D-CC07F5FE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D57E3-A6C3-EC58-CF50-57E4D55A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662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CAC75-8CCE-0C1E-805F-EBE31E3B9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CECC2-C6CC-D0D4-2E2B-2981A7A2C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5BDE5-F6B8-FB32-24FB-C616D120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E8122-310C-ADC9-BA9B-B6A4F1D9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3AD9-D25A-A5A6-90C1-82B69314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073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D88F2-6369-1424-D7AA-0903647D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1118C-A464-DE8B-06D3-3DB9FE4F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42A76-0410-D97C-4D3F-35A460445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373C5-8A9F-4BB7-83E1-0BD900092318}" type="datetimeFigureOut">
              <a:rPr lang="en-ID" smtClean="0"/>
              <a:t>01/11/2026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7C288-9190-C5F7-D06D-4FB57461F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C98E-A527-8458-153F-2063260BD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26AF6-9334-4518-B9FD-D868DD2270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117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9B6484-2F2C-C037-FF01-31EC475B10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FB376C-A2D1-966E-6F34-2615FD9D4B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FF9265-4BA3-E59F-FC35-00BBD71264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>
              <a:alpha val="5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E592A-2FB4-13F5-84F0-0610C1028BCD}"/>
              </a:ext>
            </a:extLst>
          </p:cNvPr>
          <p:cNvSpPr/>
          <p:nvPr/>
        </p:nvSpPr>
        <p:spPr>
          <a:xfrm>
            <a:off x="660400" y="736600"/>
            <a:ext cx="596900" cy="50800"/>
          </a:xfrm>
          <a:prstGeom prst="rect">
            <a:avLst/>
          </a:prstGeom>
          <a:solidFill>
            <a:srgbClr val="F5B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E3863-D809-DB14-2324-F576777DB935}"/>
              </a:ext>
            </a:extLst>
          </p:cNvPr>
          <p:cNvSpPr txBox="1"/>
          <p:nvPr/>
        </p:nvSpPr>
        <p:spPr>
          <a:xfrm>
            <a:off x="660400" y="10033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5B700"/>
                </a:solidFill>
                <a:latin typeface="Arial" panose="020B0604020202020204" pitchFamily="34" charset="0"/>
              </a:rPr>
              <a:t>WEB IN ACTION  /  MIA 2026</a:t>
            </a:r>
            <a:endParaRPr lang="en-ID" sz="1500" b="1">
              <a:solidFill>
                <a:srgbClr val="F5B70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9A45E-58F4-6F8D-7C7C-66E4A4D5A979}"/>
              </a:ext>
            </a:extLst>
          </p:cNvPr>
          <p:cNvSpPr txBox="1"/>
          <p:nvPr/>
        </p:nvSpPr>
        <p:spPr>
          <a:xfrm>
            <a:off x="660400" y="2032000"/>
            <a:ext cx="965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6200" b="1">
                <a:solidFill>
                  <a:srgbClr val="FFFFFF"/>
                </a:solidFill>
                <a:latin typeface="Arial" panose="020B0604020202020204" pitchFamily="34" charset="0"/>
              </a:rPr>
              <a:t>Lapor Balik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DAB854-E0DF-29C5-0018-F05AC6AA9296}"/>
              </a:ext>
            </a:extLst>
          </p:cNvPr>
          <p:cNvSpPr txBox="1"/>
          <p:nvPr/>
        </p:nvSpPr>
        <p:spPr>
          <a:xfrm>
            <a:off x="698500" y="3352800"/>
            <a:ext cx="7620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500">
                <a:solidFill>
                  <a:srgbClr val="FFFFFF"/>
                </a:solidFill>
                <a:latin typeface="Arial" panose="020B0604020202020204" pitchFamily="34" charset="0"/>
              </a:rPr>
              <a:t>Laporan warga dengan jejak tindak lanjut yang bisa dipantau.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E3F13-9832-5FE1-5EB0-A6F6E87031CF}"/>
              </a:ext>
            </a:extLst>
          </p:cNvPr>
          <p:cNvSpPr txBox="1"/>
          <p:nvPr/>
        </p:nvSpPr>
        <p:spPr>
          <a:xfrm>
            <a:off x="698500" y="56515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 b="1">
                <a:solidFill>
                  <a:srgbClr val="F5B700"/>
                </a:solidFill>
                <a:latin typeface="Arial" panose="020B0604020202020204" pitchFamily="34" charset="0"/>
              </a:rPr>
              <a:t>Trio Cungpruy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4ADDE-8313-110B-AF87-5DB4EF841D2E}"/>
              </a:ext>
            </a:extLst>
          </p:cNvPr>
          <p:cNvSpPr txBox="1"/>
          <p:nvPr/>
        </p:nvSpPr>
        <p:spPr>
          <a:xfrm>
            <a:off x="698500" y="60325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FFFFF"/>
                </a:solidFill>
                <a:latin typeface="Arial" panose="020B0604020202020204" pitchFamily="34" charset="0"/>
              </a:rPr>
              <a:t>First Draft  /  1 November 2026</a:t>
            </a:r>
          </a:p>
        </p:txBody>
      </p:sp>
    </p:spTree>
    <p:extLst>
      <p:ext uri="{BB962C8B-B14F-4D97-AF65-F5344CB8AC3E}">
        <p14:creationId xmlns:p14="http://schemas.microsoft.com/office/powerpoint/2010/main" val="248508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A2AD7-D739-053D-DF2F-466DCA8E40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A419B-77CC-C554-F672-9CC554823CBD}"/>
              </a:ext>
            </a:extLst>
          </p:cNvPr>
          <p:cNvSpPr txBox="1"/>
          <p:nvPr/>
        </p:nvSpPr>
        <p:spPr>
          <a:xfrm>
            <a:off x="660400" y="6096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 b="1">
                <a:solidFill>
                  <a:srgbClr val="F5B700"/>
                </a:solidFill>
                <a:latin typeface="Arial" panose="020B0604020202020204" pitchFamily="34" charset="0"/>
              </a:rPr>
              <a:t>Masalah yang kami angkat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B6603-9105-9B6C-2660-700225F85D83}"/>
              </a:ext>
            </a:extLst>
          </p:cNvPr>
          <p:cNvSpPr txBox="1"/>
          <p:nvPr/>
        </p:nvSpPr>
        <p:spPr>
          <a:xfrm>
            <a:off x="660400" y="1409700"/>
            <a:ext cx="10541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200" b="1">
                <a:solidFill>
                  <a:srgbClr val="FFFFFF"/>
                </a:solidFill>
                <a:latin typeface="Arial" panose="020B0604020202020204" pitchFamily="34" charset="0"/>
              </a:rPr>
              <a:t>Warga bisa melapor.
Lalu bagaimana tahu
apa yang terjadi?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95D8CA-19D8-7BA4-5A62-56A286DA6A3B}"/>
              </a:ext>
            </a:extLst>
          </p:cNvPr>
          <p:cNvCxnSpPr/>
          <p:nvPr/>
        </p:nvCxnSpPr>
        <p:spPr>
          <a:xfrm>
            <a:off x="660400" y="4597400"/>
            <a:ext cx="10871200" cy="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2AA8EC-82AC-CE9D-5B4D-ED11963FF264}"/>
              </a:ext>
            </a:extLst>
          </p:cNvPr>
          <p:cNvSpPr txBox="1"/>
          <p:nvPr/>
        </p:nvSpPr>
        <p:spPr>
          <a:xfrm>
            <a:off x="660400" y="4864100"/>
            <a:ext cx="1047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>
                <a:solidFill>
                  <a:srgbClr val="FFFFFF"/>
                </a:solidFill>
                <a:latin typeface="Arial" panose="020B0604020202020204" pitchFamily="34" charset="0"/>
              </a:rPr>
              <a:t>Laporan perlu punya nomor yang dapat dicari, status yang jelas, dan kesempatan bagi warga untuk memastikan masalah benar-benar selesai.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9E017-B0C0-A1EA-96EF-E27D5A7DCBCB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FD087-C245-B323-00C3-3D57661CAC6A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4345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9E00D3-018A-515C-8549-8A5F672AB8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52BCD-DD27-E7EE-7316-E8F80BD3347E}"/>
              </a:ext>
            </a:extLst>
          </p:cNvPr>
          <p:cNvSpPr txBox="1"/>
          <p:nvPr/>
        </p:nvSpPr>
        <p:spPr>
          <a:xfrm>
            <a:off x="660400" y="571500"/>
            <a:ext cx="762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 b="1">
                <a:solidFill>
                  <a:srgbClr val="605B52"/>
                </a:solidFill>
                <a:latin typeface="Arial" panose="020B0604020202020204" pitchFamily="34" charset="0"/>
              </a:rPr>
              <a:t>Konsep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4FE8D-1AD2-C846-C707-252F8CA6A5AE}"/>
              </a:ext>
            </a:extLst>
          </p:cNvPr>
          <p:cNvSpPr txBox="1"/>
          <p:nvPr/>
        </p:nvSpPr>
        <p:spPr>
          <a:xfrm>
            <a:off x="660400" y="1130300"/>
            <a:ext cx="9271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700" b="1">
                <a:solidFill>
                  <a:srgbClr val="1A1A1A"/>
                </a:solidFill>
                <a:latin typeface="Arial" panose="020B0604020202020204" pitchFamily="34" charset="0"/>
              </a:rPr>
              <a:t>Lapor Balik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F235E-D786-A729-D884-08B7148DB739}"/>
              </a:ext>
            </a:extLst>
          </p:cNvPr>
          <p:cNvSpPr txBox="1"/>
          <p:nvPr/>
        </p:nvSpPr>
        <p:spPr>
          <a:xfrm>
            <a:off x="660400" y="2260600"/>
            <a:ext cx="8382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400">
                <a:solidFill>
                  <a:srgbClr val="1A1A1A"/>
                </a:solidFill>
                <a:latin typeface="Arial" panose="020B0604020202020204" pitchFamily="34" charset="0"/>
              </a:rPr>
              <a:t>Warga Jakarta membuat laporan tanpa login, menyimpan nomor tiket, lalu memantau perkembangannya di halaman status.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E7F536-BF64-E7CB-9A9D-66D759D23AD2}"/>
              </a:ext>
            </a:extLst>
          </p:cNvPr>
          <p:cNvCxnSpPr/>
          <p:nvPr/>
        </p:nvCxnSpPr>
        <p:spPr>
          <a:xfrm>
            <a:off x="660400" y="3924300"/>
            <a:ext cx="10896600" cy="0"/>
          </a:xfrm>
          <a:prstGeom prst="line">
            <a:avLst/>
          </a:prstGeom>
          <a:ln w="25400">
            <a:solidFill>
              <a:srgbClr val="D3CD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1FD207-B7BC-DFB1-62C1-CDBB4579A8BC}"/>
              </a:ext>
            </a:extLst>
          </p:cNvPr>
          <p:cNvSpPr txBox="1"/>
          <p:nvPr/>
        </p:nvSpPr>
        <p:spPr>
          <a:xfrm>
            <a:off x="660400" y="4318000"/>
            <a:ext cx="3111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Arial" panose="020B0604020202020204" pitchFamily="34" charset="0"/>
              </a:rPr>
              <a:t>01  Kirim laporan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E2947-32EF-B521-6D6F-7BD442F619BE}"/>
              </a:ext>
            </a:extLst>
          </p:cNvPr>
          <p:cNvSpPr txBox="1"/>
          <p:nvPr/>
        </p:nvSpPr>
        <p:spPr>
          <a:xfrm>
            <a:off x="4470400" y="4318000"/>
            <a:ext cx="3111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Arial" panose="020B0604020202020204" pitchFamily="34" charset="0"/>
              </a:rPr>
              <a:t>02  Simpan tiket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67A52-8766-FA42-ED2B-165BD864DC97}"/>
              </a:ext>
            </a:extLst>
          </p:cNvPr>
          <p:cNvSpPr txBox="1"/>
          <p:nvPr/>
        </p:nvSpPr>
        <p:spPr>
          <a:xfrm>
            <a:off x="8280400" y="4318000"/>
            <a:ext cx="3111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Arial" panose="020B0604020202020204" pitchFamily="34" charset="0"/>
              </a:rPr>
              <a:t>03  Cek status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0A6CC-2ACD-16DD-0229-EB827D3E5D9B}"/>
              </a:ext>
            </a:extLst>
          </p:cNvPr>
          <p:cNvSpPr txBox="1"/>
          <p:nvPr/>
        </p:nvSpPr>
        <p:spPr>
          <a:xfrm>
            <a:off x="660400" y="5461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605B52"/>
                </a:solidFill>
                <a:latin typeface="Arial" panose="020B0604020202020204" pitchFamily="34" charset="0"/>
              </a:rPr>
              <a:t>Tujuan: membuat tindak lanjut lebih mudah dilihat dan dipahami warga.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C13AB-E4FF-A3F9-FEA7-5B7A2D18BDB6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14B77-0F19-9CD3-4B69-3F6AF8B92E12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267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C008C-EE15-49D9-934A-C28A809556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064E0-3F2D-F0C7-9357-D41CECDDBEFD}"/>
              </a:ext>
            </a:extLst>
          </p:cNvPr>
          <p:cNvSpPr txBox="1"/>
          <p:nvPr/>
        </p:nvSpPr>
        <p:spPr>
          <a:xfrm>
            <a:off x="660400" y="6096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200" b="1">
                <a:solidFill>
                  <a:srgbClr val="1A1A1A"/>
                </a:solidFill>
                <a:latin typeface="Arial" panose="020B0604020202020204" pitchFamily="34" charset="0"/>
              </a:rPr>
              <a:t>Sitemap: warga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639A6-483A-7ABD-3CD7-2288E32F9BCC}"/>
              </a:ext>
            </a:extLst>
          </p:cNvPr>
          <p:cNvSpPr txBox="1"/>
          <p:nvPr/>
        </p:nvSpPr>
        <p:spPr>
          <a:xfrm>
            <a:off x="660400" y="1320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605B52"/>
                </a:solidFill>
                <a:latin typeface="Arial" panose="020B0604020202020204" pitchFamily="34" charset="0"/>
              </a:rPr>
              <a:t>Halaman yang sudah tersedia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00C7D-2563-559A-A45B-808CA04C5570}"/>
              </a:ext>
            </a:extLst>
          </p:cNvPr>
          <p:cNvSpPr/>
          <p:nvPr/>
        </p:nvSpPr>
        <p:spPr>
          <a:xfrm>
            <a:off x="4546600" y="2019300"/>
            <a:ext cx="3098800" cy="762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4B119-C98E-A659-5E14-EE6356329ADA}"/>
              </a:ext>
            </a:extLst>
          </p:cNvPr>
          <p:cNvSpPr txBox="1"/>
          <p:nvPr/>
        </p:nvSpPr>
        <p:spPr>
          <a:xfrm>
            <a:off x="4800600" y="2222500"/>
            <a:ext cx="2590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2300" b="1">
                <a:solidFill>
                  <a:srgbClr val="FFFFFF"/>
                </a:solidFill>
                <a:latin typeface="Arial" panose="020B0604020202020204" pitchFamily="34" charset="0"/>
              </a:rPr>
              <a:t>Beranda  /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533141-EE1D-8468-3CB7-100808C62959}"/>
              </a:ext>
            </a:extLst>
          </p:cNvPr>
          <p:cNvCxnSpPr/>
          <p:nvPr/>
        </p:nvCxnSpPr>
        <p:spPr>
          <a:xfrm>
            <a:off x="6096000" y="2781300"/>
            <a:ext cx="0" cy="660400"/>
          </a:xfrm>
          <a:prstGeom prst="line">
            <a:avLst/>
          </a:prstGeom>
          <a:ln w="381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C394A6-CE00-4EB9-9525-C53215E37CAE}"/>
              </a:ext>
            </a:extLst>
          </p:cNvPr>
          <p:cNvCxnSpPr/>
          <p:nvPr/>
        </p:nvCxnSpPr>
        <p:spPr>
          <a:xfrm>
            <a:off x="3086100" y="3441700"/>
            <a:ext cx="6019800" cy="0"/>
          </a:xfrm>
          <a:prstGeom prst="line">
            <a:avLst/>
          </a:prstGeom>
          <a:ln w="381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1BAF73-089E-7981-14D8-1048355137DC}"/>
              </a:ext>
            </a:extLst>
          </p:cNvPr>
          <p:cNvCxnSpPr/>
          <p:nvPr/>
        </p:nvCxnSpPr>
        <p:spPr>
          <a:xfrm>
            <a:off x="3086100" y="3441700"/>
            <a:ext cx="0" cy="393700"/>
          </a:xfrm>
          <a:prstGeom prst="line">
            <a:avLst/>
          </a:prstGeom>
          <a:ln w="381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CED05-883E-DBA7-3CBB-D7BEA11A1F83}"/>
              </a:ext>
            </a:extLst>
          </p:cNvPr>
          <p:cNvCxnSpPr/>
          <p:nvPr/>
        </p:nvCxnSpPr>
        <p:spPr>
          <a:xfrm>
            <a:off x="9105900" y="3441700"/>
            <a:ext cx="0" cy="393700"/>
          </a:xfrm>
          <a:prstGeom prst="line">
            <a:avLst/>
          </a:prstGeom>
          <a:ln w="381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E6111C9-2C87-E3E5-AC32-AEAE2CAC38A7}"/>
              </a:ext>
            </a:extLst>
          </p:cNvPr>
          <p:cNvSpPr/>
          <p:nvPr/>
        </p:nvSpPr>
        <p:spPr>
          <a:xfrm>
            <a:off x="1168400" y="3835400"/>
            <a:ext cx="38354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1ECF9-6681-37BD-9D0C-2D4F65BA8C4F}"/>
              </a:ext>
            </a:extLst>
          </p:cNvPr>
          <p:cNvSpPr/>
          <p:nvPr/>
        </p:nvSpPr>
        <p:spPr>
          <a:xfrm>
            <a:off x="7188200" y="3835400"/>
            <a:ext cx="38354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84534-B602-61BA-34FE-E1ACFABF6AC2}"/>
              </a:ext>
            </a:extLst>
          </p:cNvPr>
          <p:cNvSpPr txBox="1"/>
          <p:nvPr/>
        </p:nvSpPr>
        <p:spPr>
          <a:xfrm>
            <a:off x="1422400" y="4114800"/>
            <a:ext cx="332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2200" b="1">
                <a:solidFill>
                  <a:srgbClr val="1A1A1A"/>
                </a:solidFill>
                <a:latin typeface="Arial" panose="020B0604020202020204" pitchFamily="34" charset="0"/>
              </a:rPr>
              <a:t>Buat laporan  /lapor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71C3E-5276-662A-75ED-05F107112AC4}"/>
              </a:ext>
            </a:extLst>
          </p:cNvPr>
          <p:cNvSpPr txBox="1"/>
          <p:nvPr/>
        </p:nvSpPr>
        <p:spPr>
          <a:xfrm>
            <a:off x="1422400" y="4572000"/>
            <a:ext cx="332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500">
                <a:solidFill>
                  <a:srgbClr val="605B52"/>
                </a:solidFill>
                <a:latin typeface="Arial" panose="020B0604020202020204" pitchFamily="34" charset="0"/>
              </a:rPr>
              <a:t>Form tiga langkah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0F628C-D55D-2A5E-4CF9-268287DD7F14}"/>
              </a:ext>
            </a:extLst>
          </p:cNvPr>
          <p:cNvSpPr txBox="1"/>
          <p:nvPr/>
        </p:nvSpPr>
        <p:spPr>
          <a:xfrm>
            <a:off x="7442200" y="4114800"/>
            <a:ext cx="3327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2200" b="1">
                <a:solidFill>
                  <a:srgbClr val="1A1A1A"/>
                </a:solidFill>
                <a:latin typeface="Arial" panose="020B0604020202020204" pitchFamily="34" charset="0"/>
              </a:rPr>
              <a:t>Cek status  /status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EF02DC-A085-B66B-0D05-03111D8F2E3C}"/>
              </a:ext>
            </a:extLst>
          </p:cNvPr>
          <p:cNvSpPr txBox="1"/>
          <p:nvPr/>
        </p:nvSpPr>
        <p:spPr>
          <a:xfrm>
            <a:off x="7442200" y="4572000"/>
            <a:ext cx="332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500">
                <a:solidFill>
                  <a:srgbClr val="605B52"/>
                </a:solidFill>
                <a:latin typeface="Arial" panose="020B0604020202020204" pitchFamily="34" charset="0"/>
              </a:rPr>
              <a:t>Cari laporan dengan tiket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9E6A21-F553-87AF-C843-3ABE2F960407}"/>
              </a:ext>
            </a:extLst>
          </p:cNvPr>
          <p:cNvSpPr txBox="1"/>
          <p:nvPr/>
        </p:nvSpPr>
        <p:spPr>
          <a:xfrm>
            <a:off x="660400" y="57531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605B52"/>
                </a:solidFill>
                <a:latin typeface="Arial" panose="020B0604020202020204" pitchFamily="34" charset="0"/>
              </a:rPr>
              <a:t>Ketiga halaman sudah tersedia dalam prototipe.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4BE7E-2EFE-40FE-6D84-5258E5A8D0B9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68256-2B29-C490-1E9B-05700DD12691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450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80A454-0B32-7316-A291-1E64640270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138D30-F457-219E-04AD-ED8AC8281B36}"/>
              </a:ext>
            </a:extLst>
          </p:cNvPr>
          <p:cNvSpPr txBox="1"/>
          <p:nvPr/>
        </p:nvSpPr>
        <p:spPr>
          <a:xfrm>
            <a:off x="660400" y="533400"/>
            <a:ext cx="990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000" b="1">
                <a:solidFill>
                  <a:srgbClr val="FFFFFF"/>
                </a:solidFill>
                <a:latin typeface="Arial" panose="020B0604020202020204" pitchFamily="34" charset="0"/>
              </a:rPr>
              <a:t>Sitemap: petugas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996A1-6136-AE8D-CCC9-08AF38A756D0}"/>
              </a:ext>
            </a:extLst>
          </p:cNvPr>
          <p:cNvSpPr txBox="1"/>
          <p:nvPr/>
        </p:nvSpPr>
        <p:spPr>
          <a:xfrm>
            <a:off x="660400" y="1257300"/>
            <a:ext cx="10858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F5B700"/>
                </a:solidFill>
                <a:latin typeface="Arial" panose="020B0604020202020204" pitchFamily="34" charset="0"/>
              </a:rPr>
              <a:t>Rencana pengembangan. Belum tersedia dalam prototipe.</a:t>
            </a:r>
            <a:endParaRPr lang="en-ID" sz="1700" b="1">
              <a:solidFill>
                <a:srgbClr val="F5B7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BDF54-C6DD-9025-4C82-F2753F0FF7FB}"/>
              </a:ext>
            </a:extLst>
          </p:cNvPr>
          <p:cNvSpPr/>
          <p:nvPr/>
        </p:nvSpPr>
        <p:spPr>
          <a:xfrm>
            <a:off x="660400" y="1892300"/>
            <a:ext cx="3365500" cy="774700"/>
          </a:xfrm>
          <a:prstGeom prst="rect">
            <a:avLst/>
          </a:prstGeom>
          <a:solidFill>
            <a:srgbClr val="2F2F2F"/>
          </a:solidFill>
          <a:ln w="12700">
            <a:solidFill>
              <a:srgbClr val="605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A4C56-6289-1755-D12B-12E5C3FFA651}"/>
              </a:ext>
            </a:extLst>
          </p:cNvPr>
          <p:cNvSpPr txBox="1"/>
          <p:nvPr/>
        </p:nvSpPr>
        <p:spPr>
          <a:xfrm>
            <a:off x="850900" y="2032000"/>
            <a:ext cx="2984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 b="1">
                <a:solidFill>
                  <a:srgbClr val="FFFFFF"/>
                </a:solidFill>
                <a:latin typeface="Arial" panose="020B0604020202020204" pitchFamily="34" charset="0"/>
              </a:rPr>
              <a:t>Masuk petugas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E9EE0-F766-5C5A-4DC5-248278AE3ADD}"/>
              </a:ext>
            </a:extLst>
          </p:cNvPr>
          <p:cNvSpPr txBox="1"/>
          <p:nvPr/>
        </p:nvSpPr>
        <p:spPr>
          <a:xfrm>
            <a:off x="850900" y="2374900"/>
            <a:ext cx="2984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5B700"/>
                </a:solidFill>
                <a:latin typeface="Arial" panose="020B0604020202020204" pitchFamily="34" charset="0"/>
              </a:rPr>
              <a:t>/petugas/masuk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DD9321-3F9E-611D-1313-82169782E2CB}"/>
              </a:ext>
            </a:extLst>
          </p:cNvPr>
          <p:cNvCxnSpPr/>
          <p:nvPr/>
        </p:nvCxnSpPr>
        <p:spPr>
          <a:xfrm>
            <a:off x="4025900" y="2286000"/>
            <a:ext cx="406400" cy="0"/>
          </a:xfrm>
          <a:prstGeom prst="line">
            <a:avLst/>
          </a:prstGeom>
          <a:ln w="3175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754D10-ABFB-2CC0-0A21-8637F6055A70}"/>
              </a:ext>
            </a:extLst>
          </p:cNvPr>
          <p:cNvSpPr/>
          <p:nvPr/>
        </p:nvSpPr>
        <p:spPr>
          <a:xfrm>
            <a:off x="4432300" y="1892300"/>
            <a:ext cx="7099300" cy="774700"/>
          </a:xfrm>
          <a:prstGeom prst="rect">
            <a:avLst/>
          </a:prstGeom>
          <a:solidFill>
            <a:srgbClr val="2F2F2F"/>
          </a:solidFill>
          <a:ln w="12700">
            <a:solidFill>
              <a:srgbClr val="F5B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68FA2-6CFC-A930-F306-EED66CE61E50}"/>
              </a:ext>
            </a:extLst>
          </p:cNvPr>
          <p:cNvSpPr txBox="1"/>
          <p:nvPr/>
        </p:nvSpPr>
        <p:spPr>
          <a:xfrm>
            <a:off x="4635500" y="2006600"/>
            <a:ext cx="2717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200" b="1">
                <a:solidFill>
                  <a:srgbClr val="FFFFFF"/>
                </a:solidFill>
                <a:latin typeface="Arial" panose="020B0604020202020204" pitchFamily="34" charset="0"/>
              </a:rPr>
              <a:t>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9DF35-2DD2-701D-BF18-1229C270B435}"/>
              </a:ext>
            </a:extLst>
          </p:cNvPr>
          <p:cNvSpPr txBox="1"/>
          <p:nvPr/>
        </p:nvSpPr>
        <p:spPr>
          <a:xfrm>
            <a:off x="7302500" y="2019300"/>
            <a:ext cx="398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F5B700"/>
                </a:solidFill>
                <a:latin typeface="Arial" panose="020B0604020202020204" pitchFamily="34" charset="0"/>
              </a:rPr>
              <a:t>/petugas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A0716-A98C-F389-7CB1-3EC8548E4E33}"/>
              </a:ext>
            </a:extLst>
          </p:cNvPr>
          <p:cNvSpPr txBox="1"/>
          <p:nvPr/>
        </p:nvSpPr>
        <p:spPr>
          <a:xfrm>
            <a:off x="7302500" y="2324100"/>
            <a:ext cx="398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300">
                <a:solidFill>
                  <a:srgbClr val="FFFFFF"/>
                </a:solidFill>
                <a:latin typeface="Arial" panose="020B0604020202020204" pitchFamily="34" charset="0"/>
              </a:rPr>
              <a:t>Ringkasan status dan laporan terbaru</a:t>
            </a:r>
            <a:endParaRPr lang="en-ID" sz="13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92E1D-6C1C-5AE2-C1DB-19693FC7C6ED}"/>
              </a:ext>
            </a:extLst>
          </p:cNvPr>
          <p:cNvCxnSpPr/>
          <p:nvPr/>
        </p:nvCxnSpPr>
        <p:spPr>
          <a:xfrm>
            <a:off x="7975600" y="2667000"/>
            <a:ext cx="0" cy="38100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2331FF-8028-5710-B1C5-C5CD36E79A17}"/>
              </a:ext>
            </a:extLst>
          </p:cNvPr>
          <p:cNvCxnSpPr/>
          <p:nvPr/>
        </p:nvCxnSpPr>
        <p:spPr>
          <a:xfrm>
            <a:off x="2387600" y="3048000"/>
            <a:ext cx="7416800" cy="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D8324E-A484-97FD-296E-C7557B6086C5}"/>
              </a:ext>
            </a:extLst>
          </p:cNvPr>
          <p:cNvCxnSpPr/>
          <p:nvPr/>
        </p:nvCxnSpPr>
        <p:spPr>
          <a:xfrm>
            <a:off x="2387600" y="3048000"/>
            <a:ext cx="0" cy="24130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80A006-E3C1-614A-2728-FB44A8708177}"/>
              </a:ext>
            </a:extLst>
          </p:cNvPr>
          <p:cNvCxnSpPr/>
          <p:nvPr/>
        </p:nvCxnSpPr>
        <p:spPr>
          <a:xfrm>
            <a:off x="6096000" y="3048000"/>
            <a:ext cx="0" cy="24130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18B558-7D63-B083-6C88-CA452E3E4CD0}"/>
              </a:ext>
            </a:extLst>
          </p:cNvPr>
          <p:cNvCxnSpPr/>
          <p:nvPr/>
        </p:nvCxnSpPr>
        <p:spPr>
          <a:xfrm>
            <a:off x="9804400" y="3048000"/>
            <a:ext cx="0" cy="24130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7D357-F445-5634-6DFC-6911B74B14E6}"/>
              </a:ext>
            </a:extLst>
          </p:cNvPr>
          <p:cNvSpPr/>
          <p:nvPr/>
        </p:nvSpPr>
        <p:spPr>
          <a:xfrm>
            <a:off x="660400" y="3289300"/>
            <a:ext cx="3454400" cy="1168400"/>
          </a:xfrm>
          <a:prstGeom prst="rect">
            <a:avLst/>
          </a:prstGeom>
          <a:solidFill>
            <a:srgbClr val="2F2F2F"/>
          </a:solidFill>
          <a:ln w="12700">
            <a:solidFill>
              <a:srgbClr val="605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052ACE-EE55-4320-DB09-FC0550D5C649}"/>
              </a:ext>
            </a:extLst>
          </p:cNvPr>
          <p:cNvSpPr/>
          <p:nvPr/>
        </p:nvSpPr>
        <p:spPr>
          <a:xfrm>
            <a:off x="4368800" y="3289300"/>
            <a:ext cx="3454400" cy="1168400"/>
          </a:xfrm>
          <a:prstGeom prst="rect">
            <a:avLst/>
          </a:prstGeom>
          <a:solidFill>
            <a:srgbClr val="2F2F2F"/>
          </a:solidFill>
          <a:ln w="12700">
            <a:solidFill>
              <a:srgbClr val="605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2F168-0CA1-1830-C932-0484DED64B8F}"/>
              </a:ext>
            </a:extLst>
          </p:cNvPr>
          <p:cNvSpPr/>
          <p:nvPr/>
        </p:nvSpPr>
        <p:spPr>
          <a:xfrm>
            <a:off x="8077200" y="3289300"/>
            <a:ext cx="3454400" cy="1168400"/>
          </a:xfrm>
          <a:prstGeom prst="rect">
            <a:avLst/>
          </a:prstGeom>
          <a:solidFill>
            <a:srgbClr val="2F2F2F"/>
          </a:solidFill>
          <a:ln w="12700">
            <a:solidFill>
              <a:srgbClr val="605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2B5CB-7A22-7593-92FB-83D0566A8891}"/>
              </a:ext>
            </a:extLst>
          </p:cNvPr>
          <p:cNvSpPr txBox="1"/>
          <p:nvPr/>
        </p:nvSpPr>
        <p:spPr>
          <a:xfrm>
            <a:off x="850900" y="3441700"/>
            <a:ext cx="307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FFFFFF"/>
                </a:solidFill>
                <a:latin typeface="Arial" panose="020B0604020202020204" pitchFamily="34" charset="0"/>
              </a:rPr>
              <a:t>Daftar laporan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97B85E-D879-EF03-D5F4-69EDCDB13324}"/>
              </a:ext>
            </a:extLst>
          </p:cNvPr>
          <p:cNvSpPr txBox="1"/>
          <p:nvPr/>
        </p:nvSpPr>
        <p:spPr>
          <a:xfrm>
            <a:off x="850900" y="37973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5B700"/>
                </a:solidFill>
                <a:latin typeface="Arial" panose="020B0604020202020204" pitchFamily="34" charset="0"/>
              </a:rPr>
              <a:t>/petugas/laporan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FC959-76C3-7F6C-A0D5-D7CE48A348C3}"/>
              </a:ext>
            </a:extLst>
          </p:cNvPr>
          <p:cNvSpPr txBox="1"/>
          <p:nvPr/>
        </p:nvSpPr>
        <p:spPr>
          <a:xfrm>
            <a:off x="850900" y="41021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FFFFF"/>
                </a:solidFill>
                <a:latin typeface="Arial" panose="020B0604020202020204" pitchFamily="34" charset="0"/>
              </a:rPr>
              <a:t>Cari dan saring laporan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5C47DB-CFDD-1663-3734-AC2A26DB2D72}"/>
              </a:ext>
            </a:extLst>
          </p:cNvPr>
          <p:cNvSpPr txBox="1"/>
          <p:nvPr/>
        </p:nvSpPr>
        <p:spPr>
          <a:xfrm>
            <a:off x="4559300" y="3441700"/>
            <a:ext cx="307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FFFFFF"/>
                </a:solidFill>
                <a:latin typeface="Arial" panose="020B0604020202020204" pitchFamily="34" charset="0"/>
              </a:rPr>
              <a:t>Analitik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EF0D01-26BE-3D97-B325-694CDC6D2C60}"/>
              </a:ext>
            </a:extLst>
          </p:cNvPr>
          <p:cNvSpPr txBox="1"/>
          <p:nvPr/>
        </p:nvSpPr>
        <p:spPr>
          <a:xfrm>
            <a:off x="4559300" y="37973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5B700"/>
                </a:solidFill>
                <a:latin typeface="Arial" panose="020B0604020202020204" pitchFamily="34" charset="0"/>
              </a:rPr>
              <a:t>/petugas/analitik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08D8AB-F026-D228-720B-89C9AF508EDE}"/>
              </a:ext>
            </a:extLst>
          </p:cNvPr>
          <p:cNvSpPr txBox="1"/>
          <p:nvPr/>
        </p:nvSpPr>
        <p:spPr>
          <a:xfrm>
            <a:off x="4559300" y="41021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FFFFF"/>
                </a:solidFill>
                <a:latin typeface="Arial" panose="020B0604020202020204" pitchFamily="34" charset="0"/>
              </a:rPr>
              <a:t>Tren kategori dan lokasi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438848-85FC-D14F-B876-D941E0CFDA1D}"/>
              </a:ext>
            </a:extLst>
          </p:cNvPr>
          <p:cNvSpPr txBox="1"/>
          <p:nvPr/>
        </p:nvSpPr>
        <p:spPr>
          <a:xfrm>
            <a:off x="8267700" y="3441700"/>
            <a:ext cx="307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FFFFFF"/>
                </a:solidFill>
                <a:latin typeface="Arial" panose="020B0604020202020204" pitchFamily="34" charset="0"/>
              </a:rPr>
              <a:t>Riwayat aktivitas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55FAA0-86E5-FBC2-7358-88A52DC264D2}"/>
              </a:ext>
            </a:extLst>
          </p:cNvPr>
          <p:cNvSpPr txBox="1"/>
          <p:nvPr/>
        </p:nvSpPr>
        <p:spPr>
          <a:xfrm>
            <a:off x="8267700" y="37973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5B700"/>
                </a:solidFill>
                <a:latin typeface="Arial" panose="020B0604020202020204" pitchFamily="34" charset="0"/>
              </a:rPr>
              <a:t>/petugas/aktivitas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E6346E-BE28-CA9A-A916-970FBE614E4A}"/>
              </a:ext>
            </a:extLst>
          </p:cNvPr>
          <p:cNvSpPr txBox="1"/>
          <p:nvPr/>
        </p:nvSpPr>
        <p:spPr>
          <a:xfrm>
            <a:off x="8267700" y="4102100"/>
            <a:ext cx="307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FFFFF"/>
                </a:solidFill>
                <a:latin typeface="Arial" panose="020B0604020202020204" pitchFamily="34" charset="0"/>
              </a:rPr>
              <a:t>Jejak perubahan status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438387-FCDA-E543-36A0-459B54800B8C}"/>
              </a:ext>
            </a:extLst>
          </p:cNvPr>
          <p:cNvCxnSpPr/>
          <p:nvPr/>
        </p:nvCxnSpPr>
        <p:spPr>
          <a:xfrm>
            <a:off x="2387600" y="4457700"/>
            <a:ext cx="0" cy="36830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1422F74-9358-C3D4-8721-B7BFDD9FCB8E}"/>
              </a:ext>
            </a:extLst>
          </p:cNvPr>
          <p:cNvSpPr/>
          <p:nvPr/>
        </p:nvSpPr>
        <p:spPr>
          <a:xfrm>
            <a:off x="660400" y="4826000"/>
            <a:ext cx="10871200" cy="1143000"/>
          </a:xfrm>
          <a:prstGeom prst="rect">
            <a:avLst/>
          </a:prstGeom>
          <a:solidFill>
            <a:srgbClr val="2F2F2F"/>
          </a:solidFill>
          <a:ln w="12700">
            <a:solidFill>
              <a:srgbClr val="605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D1D910-8D3D-650A-5325-35FF18F2CA62}"/>
              </a:ext>
            </a:extLst>
          </p:cNvPr>
          <p:cNvSpPr txBox="1"/>
          <p:nvPr/>
        </p:nvSpPr>
        <p:spPr>
          <a:xfrm>
            <a:off x="850900" y="4978400"/>
            <a:ext cx="3365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200" b="1">
                <a:solidFill>
                  <a:srgbClr val="FFFFFF"/>
                </a:solidFill>
                <a:latin typeface="Arial" panose="020B0604020202020204" pitchFamily="34" charset="0"/>
              </a:rPr>
              <a:t>Detail laporan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A5829C-DC92-95F4-5BBD-1FECC04BC950}"/>
              </a:ext>
            </a:extLst>
          </p:cNvPr>
          <p:cNvSpPr txBox="1"/>
          <p:nvPr/>
        </p:nvSpPr>
        <p:spPr>
          <a:xfrm>
            <a:off x="4241800" y="505460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400">
                <a:solidFill>
                  <a:srgbClr val="F5B700"/>
                </a:solidFill>
                <a:latin typeface="Arial" panose="020B0604020202020204" pitchFamily="34" charset="0"/>
              </a:rPr>
              <a:t>/petugas/laporan/[id]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F0FF04-5A27-A17D-2B2A-124D6B895CBD}"/>
              </a:ext>
            </a:extLst>
          </p:cNvPr>
          <p:cNvSpPr txBox="1"/>
          <p:nvPr/>
        </p:nvSpPr>
        <p:spPr>
          <a:xfrm>
            <a:off x="850900" y="5537200"/>
            <a:ext cx="10401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>
                <a:solidFill>
                  <a:srgbClr val="FFFFFF"/>
                </a:solidFill>
                <a:latin typeface="Arial" panose="020B0604020202020204" pitchFamily="34" charset="0"/>
              </a:rPr>
              <a:t>Verifikasi, catat tindak lanjut, perbarui status, dan lampirkan bukti.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8EEC15-4BBD-90D2-CF82-D6263B6A07CB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8417FB-0527-4CA1-06A1-06F1DA5C0961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693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56936-5878-670E-71E5-D9AD4A92D8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9D8D0-5CCC-045B-D745-E1B5E22D175B}"/>
              </a:ext>
            </a:extLst>
          </p:cNvPr>
          <p:cNvSpPr txBox="1"/>
          <p:nvPr/>
        </p:nvSpPr>
        <p:spPr>
          <a:xfrm>
            <a:off x="660400" y="533400"/>
            <a:ext cx="1003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900" b="1">
                <a:solidFill>
                  <a:srgbClr val="1A1A1A"/>
                </a:solidFill>
                <a:latin typeface="Arial" panose="020B0604020202020204" pitchFamily="34" charset="0"/>
              </a:rPr>
              <a:t>Wireframe halaman utama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1553F-3CB7-89BA-6374-2626589480F5}"/>
              </a:ext>
            </a:extLst>
          </p:cNvPr>
          <p:cNvSpPr txBox="1"/>
          <p:nvPr/>
        </p:nvSpPr>
        <p:spPr>
          <a:xfrm>
            <a:off x="660400" y="11938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>
                <a:solidFill>
                  <a:srgbClr val="605B52"/>
                </a:solidFill>
                <a:latin typeface="Arial" panose="020B0604020202020204" pitchFamily="34" charset="0"/>
              </a:rPr>
              <a:t>Susunan informasi dan jalan masuk ke dua tugas utama warga.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46624-49E9-C383-598A-5650F7B79338}"/>
              </a:ext>
            </a:extLst>
          </p:cNvPr>
          <p:cNvSpPr/>
          <p:nvPr/>
        </p:nvSpPr>
        <p:spPr>
          <a:xfrm>
            <a:off x="1079500" y="1816100"/>
            <a:ext cx="10033000" cy="3771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0E061-A27F-C08D-30E1-28817BE836DE}"/>
              </a:ext>
            </a:extLst>
          </p:cNvPr>
          <p:cNvSpPr/>
          <p:nvPr/>
        </p:nvSpPr>
        <p:spPr>
          <a:xfrm>
            <a:off x="1079500" y="1816100"/>
            <a:ext cx="10033000" cy="4826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CE6F4-B18C-238E-2795-310680EEAE2F}"/>
              </a:ext>
            </a:extLst>
          </p:cNvPr>
          <p:cNvSpPr txBox="1"/>
          <p:nvPr/>
        </p:nvSpPr>
        <p:spPr>
          <a:xfrm>
            <a:off x="1320800" y="19558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FFFFFF"/>
                </a:solidFill>
                <a:latin typeface="Arial" panose="020B0604020202020204" pitchFamily="34" charset="0"/>
              </a:rPr>
              <a:t>LAPOR BALIK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05ABB-83E2-4E05-9036-7D9F58FE3C60}"/>
              </a:ext>
            </a:extLst>
          </p:cNvPr>
          <p:cNvSpPr txBox="1"/>
          <p:nvPr/>
        </p:nvSpPr>
        <p:spPr>
          <a:xfrm>
            <a:off x="6096000" y="19558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>
                <a:solidFill>
                  <a:srgbClr val="FFFFFF"/>
                </a:solidFill>
                <a:latin typeface="Arial" panose="020B0604020202020204" pitchFamily="34" charset="0"/>
              </a:rPr>
              <a:t>Beranda     Layanan     Cara Melapor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FD393-2017-91DC-9AEC-89E1396D20EA}"/>
              </a:ext>
            </a:extLst>
          </p:cNvPr>
          <p:cNvSpPr/>
          <p:nvPr/>
        </p:nvSpPr>
        <p:spPr>
          <a:xfrm>
            <a:off x="1079500" y="2298700"/>
            <a:ext cx="10033000" cy="1676400"/>
          </a:xfrm>
          <a:prstGeom prst="rect">
            <a:avLst/>
          </a:prstGeom>
          <a:solidFill>
            <a:srgbClr val="E1DAC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00BA1-1E20-BA46-787D-D08C509199FB}"/>
              </a:ext>
            </a:extLst>
          </p:cNvPr>
          <p:cNvSpPr txBox="1"/>
          <p:nvPr/>
        </p:nvSpPr>
        <p:spPr>
          <a:xfrm>
            <a:off x="1422400" y="2590800"/>
            <a:ext cx="5969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500" b="1">
                <a:solidFill>
                  <a:srgbClr val="1A1A1A"/>
                </a:solidFill>
                <a:latin typeface="Arial" panose="020B0604020202020204" pitchFamily="34" charset="0"/>
              </a:rPr>
              <a:t>Kotamu punya cerita.
Suaramu punya arti.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BD288-A09C-FEAA-5BAF-2B4520DEE374}"/>
              </a:ext>
            </a:extLst>
          </p:cNvPr>
          <p:cNvSpPr/>
          <p:nvPr/>
        </p:nvSpPr>
        <p:spPr>
          <a:xfrm>
            <a:off x="1422400" y="3543300"/>
            <a:ext cx="1574800" cy="292100"/>
          </a:xfrm>
          <a:prstGeom prst="rect">
            <a:avLst/>
          </a:prstGeom>
          <a:solidFill>
            <a:srgbClr val="F5B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4F9E5-DA87-F6A1-97E7-919A22DBF07C}"/>
              </a:ext>
            </a:extLst>
          </p:cNvPr>
          <p:cNvSpPr txBox="1"/>
          <p:nvPr/>
        </p:nvSpPr>
        <p:spPr>
          <a:xfrm>
            <a:off x="1511300" y="3594100"/>
            <a:ext cx="14097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900" b="1">
                <a:solidFill>
                  <a:srgbClr val="1A1A1A"/>
                </a:solidFill>
                <a:latin typeface="Arial" panose="020B0604020202020204" pitchFamily="34" charset="0"/>
              </a:rPr>
              <a:t>Lapor Sekarang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FA1D42-EA1D-0E2A-0775-69AF10208E97}"/>
              </a:ext>
            </a:extLst>
          </p:cNvPr>
          <p:cNvSpPr/>
          <p:nvPr/>
        </p:nvSpPr>
        <p:spPr>
          <a:xfrm>
            <a:off x="3111500" y="3543300"/>
            <a:ext cx="15748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7380B5-F3C7-E491-0826-68DBDF070BE0}"/>
              </a:ext>
            </a:extLst>
          </p:cNvPr>
          <p:cNvSpPr txBox="1"/>
          <p:nvPr/>
        </p:nvSpPr>
        <p:spPr>
          <a:xfrm>
            <a:off x="3238500" y="3594100"/>
            <a:ext cx="1308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900" b="1">
                <a:solidFill>
                  <a:srgbClr val="1A1A1A"/>
                </a:solidFill>
                <a:latin typeface="Arial" panose="020B0604020202020204" pitchFamily="34" charset="0"/>
              </a:rPr>
              <a:t>Cek Status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B0FAF-2398-37C7-5DB5-B2A3272CC5BB}"/>
              </a:ext>
            </a:extLst>
          </p:cNvPr>
          <p:cNvSpPr/>
          <p:nvPr/>
        </p:nvSpPr>
        <p:spPr>
          <a:xfrm>
            <a:off x="1333500" y="4267200"/>
            <a:ext cx="2895600" cy="952500"/>
          </a:xfrm>
          <a:prstGeom prst="rect">
            <a:avLst/>
          </a:prstGeom>
          <a:solidFill>
            <a:srgbClr val="F9F7F1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2A304-6819-2B00-DBE8-DE785FD59399}"/>
              </a:ext>
            </a:extLst>
          </p:cNvPr>
          <p:cNvSpPr/>
          <p:nvPr/>
        </p:nvSpPr>
        <p:spPr>
          <a:xfrm>
            <a:off x="4635500" y="4267200"/>
            <a:ext cx="2895600" cy="952500"/>
          </a:xfrm>
          <a:prstGeom prst="rect">
            <a:avLst/>
          </a:prstGeom>
          <a:solidFill>
            <a:srgbClr val="F9F7F1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E3C511-F2BA-1961-A527-38818487CB2C}"/>
              </a:ext>
            </a:extLst>
          </p:cNvPr>
          <p:cNvSpPr/>
          <p:nvPr/>
        </p:nvSpPr>
        <p:spPr>
          <a:xfrm>
            <a:off x="7937500" y="4267200"/>
            <a:ext cx="2895600" cy="952500"/>
          </a:xfrm>
          <a:prstGeom prst="rect">
            <a:avLst/>
          </a:prstGeom>
          <a:solidFill>
            <a:srgbClr val="F9F7F1"/>
          </a:solidFill>
          <a:ln w="12700">
            <a:solidFill>
              <a:srgbClr val="D3C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10517D-CE9F-EE76-6E17-8C0B8BE359B0}"/>
              </a:ext>
            </a:extLst>
          </p:cNvPr>
          <p:cNvSpPr txBox="1"/>
          <p:nvPr/>
        </p:nvSpPr>
        <p:spPr>
          <a:xfrm>
            <a:off x="1638300" y="4533900"/>
            <a:ext cx="2222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700" b="1">
                <a:solidFill>
                  <a:srgbClr val="1A1A1A"/>
                </a:solidFill>
                <a:latin typeface="Arial" panose="020B0604020202020204" pitchFamily="34" charset="0"/>
              </a:rPr>
              <a:t>Kenapa ada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22437B-C73F-4EB0-6F65-E97FC40823F2}"/>
              </a:ext>
            </a:extLst>
          </p:cNvPr>
          <p:cNvSpPr txBox="1"/>
          <p:nvPr/>
        </p:nvSpPr>
        <p:spPr>
          <a:xfrm>
            <a:off x="4927600" y="45339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700" b="1">
                <a:solidFill>
                  <a:srgbClr val="1A1A1A"/>
                </a:solidFill>
                <a:latin typeface="Arial" panose="020B0604020202020204" pitchFamily="34" charset="0"/>
              </a:rPr>
              <a:t>Layanan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FF18B-6644-8B2C-9027-887070032AAD}"/>
              </a:ext>
            </a:extLst>
          </p:cNvPr>
          <p:cNvSpPr txBox="1"/>
          <p:nvPr/>
        </p:nvSpPr>
        <p:spPr>
          <a:xfrm>
            <a:off x="8204200" y="4533900"/>
            <a:ext cx="2349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700" b="1">
                <a:solidFill>
                  <a:srgbClr val="1A1A1A"/>
                </a:solidFill>
                <a:latin typeface="Arial" panose="020B0604020202020204" pitchFamily="34" charset="0"/>
              </a:rPr>
              <a:t>Cara melapor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420AE3-455B-DF5D-F095-674642958452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2BC9DA-A142-EC2D-EAE8-177856391BCF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662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6FD878-DE88-9D45-09B0-DD1E5278DE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D24F0-4262-240C-9E29-6A057AE7F500}"/>
              </a:ext>
            </a:extLst>
          </p:cNvPr>
          <p:cNvSpPr txBox="1"/>
          <p:nvPr/>
        </p:nvSpPr>
        <p:spPr>
          <a:xfrm>
            <a:off x="660400" y="609600"/>
            <a:ext cx="901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200" b="1">
                <a:solidFill>
                  <a:srgbClr val="1A1A1A"/>
                </a:solidFill>
                <a:latin typeface="Arial" panose="020B0604020202020204" pitchFamily="34" charset="0"/>
              </a:rPr>
              <a:t>Fitur utama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BB5A0-3DE3-DE5D-1660-7DD4ED3FFA5D}"/>
              </a:ext>
            </a:extLst>
          </p:cNvPr>
          <p:cNvSpPr txBox="1"/>
          <p:nvPr/>
        </p:nvSpPr>
        <p:spPr>
          <a:xfrm>
            <a:off x="660400" y="1346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605B52"/>
                </a:solidFill>
                <a:latin typeface="Arial" panose="020B0604020202020204" pitchFamily="34" charset="0"/>
              </a:rPr>
              <a:t>Yang sudah berjalan dalam prototipe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CFBC1F-A950-9DA4-787E-B5FE86A2B140}"/>
              </a:ext>
            </a:extLst>
          </p:cNvPr>
          <p:cNvCxnSpPr/>
          <p:nvPr/>
        </p:nvCxnSpPr>
        <p:spPr>
          <a:xfrm>
            <a:off x="660400" y="1917700"/>
            <a:ext cx="10871200" cy="0"/>
          </a:xfrm>
          <a:prstGeom prst="line">
            <a:avLst/>
          </a:prstGeom>
          <a:ln w="16510">
            <a:solidFill>
              <a:srgbClr val="D3CD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CA1AEE-A7DE-7B5F-21C6-8502587E755A}"/>
              </a:ext>
            </a:extLst>
          </p:cNvPr>
          <p:cNvSpPr txBox="1"/>
          <p:nvPr/>
        </p:nvSpPr>
        <p:spPr>
          <a:xfrm>
            <a:off x="660400" y="2044700"/>
            <a:ext cx="952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F5B70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D5BFA-3EA0-3FD9-7E70-7D91AD6E4A67}"/>
              </a:ext>
            </a:extLst>
          </p:cNvPr>
          <p:cNvSpPr txBox="1"/>
          <p:nvPr/>
        </p:nvSpPr>
        <p:spPr>
          <a:xfrm>
            <a:off x="1816100" y="2044700"/>
            <a:ext cx="3365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1A1A1A"/>
                </a:solidFill>
                <a:latin typeface="Arial" panose="020B0604020202020204" pitchFamily="34" charset="0"/>
              </a:rPr>
              <a:t>Buat laporan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416DE-B791-0AC2-62F4-75A680EE1539}"/>
              </a:ext>
            </a:extLst>
          </p:cNvPr>
          <p:cNvSpPr txBox="1"/>
          <p:nvPr/>
        </p:nvSpPr>
        <p:spPr>
          <a:xfrm>
            <a:off x="5359400" y="2044700"/>
            <a:ext cx="596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>
                <a:solidFill>
                  <a:srgbClr val="1A1A1A"/>
                </a:solidFill>
                <a:latin typeface="Arial" panose="020B0604020202020204" pitchFamily="34" charset="0"/>
              </a:rPr>
              <a:t>Deskripsi, kategori, alamat, serta foto dan GPS opsional.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C5C992-7930-ECCA-B8A9-C29D781E9800}"/>
              </a:ext>
            </a:extLst>
          </p:cNvPr>
          <p:cNvCxnSpPr/>
          <p:nvPr/>
        </p:nvCxnSpPr>
        <p:spPr>
          <a:xfrm>
            <a:off x="660400" y="3162300"/>
            <a:ext cx="10871200" cy="0"/>
          </a:xfrm>
          <a:prstGeom prst="line">
            <a:avLst/>
          </a:prstGeom>
          <a:ln w="16510">
            <a:solidFill>
              <a:srgbClr val="D3CD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0FD588-405A-2771-A6A6-EAA455A00559}"/>
              </a:ext>
            </a:extLst>
          </p:cNvPr>
          <p:cNvSpPr txBox="1"/>
          <p:nvPr/>
        </p:nvSpPr>
        <p:spPr>
          <a:xfrm>
            <a:off x="660400" y="3289300"/>
            <a:ext cx="952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F5B700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328C4-9DB3-BFD1-71BF-37F620CFBD8A}"/>
              </a:ext>
            </a:extLst>
          </p:cNvPr>
          <p:cNvSpPr txBox="1"/>
          <p:nvPr/>
        </p:nvSpPr>
        <p:spPr>
          <a:xfrm>
            <a:off x="1816100" y="3289300"/>
            <a:ext cx="3365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1A1A1A"/>
                </a:solidFill>
                <a:latin typeface="Arial" panose="020B0604020202020204" pitchFamily="34" charset="0"/>
              </a:rPr>
              <a:t>Nomor tiket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7B475-AD01-359C-6ECC-015DD3E267D5}"/>
              </a:ext>
            </a:extLst>
          </p:cNvPr>
          <p:cNvSpPr txBox="1"/>
          <p:nvPr/>
        </p:nvSpPr>
        <p:spPr>
          <a:xfrm>
            <a:off x="5359400" y="3289300"/>
            <a:ext cx="596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>
                <a:solidFill>
                  <a:srgbClr val="1A1A1A"/>
                </a:solidFill>
                <a:latin typeface="Arial" panose="020B0604020202020204" pitchFamily="34" charset="0"/>
              </a:rPr>
              <a:t>Tiket dibuat saat laporan berhasil disimpan.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3B7DD1-A462-BFC9-7EB7-E1D2FF2929AE}"/>
              </a:ext>
            </a:extLst>
          </p:cNvPr>
          <p:cNvCxnSpPr/>
          <p:nvPr/>
        </p:nvCxnSpPr>
        <p:spPr>
          <a:xfrm>
            <a:off x="660400" y="4406900"/>
            <a:ext cx="10871200" cy="0"/>
          </a:xfrm>
          <a:prstGeom prst="line">
            <a:avLst/>
          </a:prstGeom>
          <a:ln w="16510">
            <a:solidFill>
              <a:srgbClr val="D3CD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B86FEB-39BA-1127-0BC6-385AA54FF1D3}"/>
              </a:ext>
            </a:extLst>
          </p:cNvPr>
          <p:cNvSpPr txBox="1"/>
          <p:nvPr/>
        </p:nvSpPr>
        <p:spPr>
          <a:xfrm>
            <a:off x="660400" y="4533900"/>
            <a:ext cx="952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F5B700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11151B-C20E-3835-375B-6B44F382415F}"/>
              </a:ext>
            </a:extLst>
          </p:cNvPr>
          <p:cNvSpPr txBox="1"/>
          <p:nvPr/>
        </p:nvSpPr>
        <p:spPr>
          <a:xfrm>
            <a:off x="1816100" y="4533900"/>
            <a:ext cx="3365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300" b="1">
                <a:solidFill>
                  <a:srgbClr val="1A1A1A"/>
                </a:solidFill>
                <a:latin typeface="Arial" panose="020B0604020202020204" pitchFamily="34" charset="0"/>
              </a:rPr>
              <a:t>Pantau 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C47E1-4C64-BF62-982A-A1C016964141}"/>
              </a:ext>
            </a:extLst>
          </p:cNvPr>
          <p:cNvSpPr txBox="1"/>
          <p:nvPr/>
        </p:nvSpPr>
        <p:spPr>
          <a:xfrm>
            <a:off x="5359400" y="4533900"/>
            <a:ext cx="596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>
                <a:solidFill>
                  <a:srgbClr val="1A1A1A"/>
                </a:solidFill>
                <a:latin typeface="Arial" panose="020B0604020202020204" pitchFamily="34" charset="0"/>
              </a:rPr>
              <a:t>Cari tiket, lihat tahap penanganan, lalu beri konfirmasi warga.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872832-A9D2-8F7A-FD42-BAF0AAF73E86}"/>
              </a:ext>
            </a:extLst>
          </p:cNvPr>
          <p:cNvSpPr/>
          <p:nvPr/>
        </p:nvSpPr>
        <p:spPr>
          <a:xfrm>
            <a:off x="660400" y="5765800"/>
            <a:ext cx="10871200" cy="469900"/>
          </a:xfrm>
          <a:prstGeom prst="rect">
            <a:avLst/>
          </a:prstGeom>
          <a:solidFill>
            <a:srgbClr val="E9E2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E25B01-A07F-17E5-4B4B-B3928BBACF57}"/>
              </a:ext>
            </a:extLst>
          </p:cNvPr>
          <p:cNvSpPr txBox="1"/>
          <p:nvPr/>
        </p:nvSpPr>
        <p:spPr>
          <a:xfrm>
            <a:off x="850900" y="5892800"/>
            <a:ext cx="1047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400">
                <a:solidFill>
                  <a:srgbClr val="1A1A1A"/>
                </a:solidFill>
                <a:latin typeface="Arial" panose="020B0604020202020204" pitchFamily="34" charset="0"/>
              </a:rPr>
              <a:t>Saat ini data tersimpan di browser. Status berubah lewat tombol simulasi.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8F34E9-FBCA-DF82-79FD-DA3019636A9A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8AB149-DECB-B02C-CA71-EF97B6C868D1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2582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FEDC5B-90BF-B7B0-0B47-10EDD6C2BB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113CD-7E0C-2746-6DDC-DDE410B35A8F}"/>
              </a:ext>
            </a:extLst>
          </p:cNvPr>
          <p:cNvSpPr txBox="1"/>
          <p:nvPr/>
        </p:nvSpPr>
        <p:spPr>
          <a:xfrm>
            <a:off x="533400" y="546100"/>
            <a:ext cx="647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 b="1">
                <a:solidFill>
                  <a:srgbClr val="F5B700"/>
                </a:solidFill>
                <a:latin typeface="Arial" panose="020B0604020202020204" pitchFamily="34" charset="0"/>
              </a:rPr>
              <a:t>Halaman yang sudah jadi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183DB-152D-92ED-46BF-F6B8CE292586}"/>
              </a:ext>
            </a:extLst>
          </p:cNvPr>
          <p:cNvSpPr txBox="1"/>
          <p:nvPr/>
        </p:nvSpPr>
        <p:spPr>
          <a:xfrm>
            <a:off x="533400" y="1422400"/>
            <a:ext cx="3365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800" b="1">
                <a:solidFill>
                  <a:srgbClr val="FFFFFF"/>
                </a:solidFill>
                <a:latin typeface="Arial" panose="020B0604020202020204" pitchFamily="34" charset="0"/>
              </a:rPr>
              <a:t>Landing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ED64E-04E8-33A5-78E6-59E0AE8C9251}"/>
              </a:ext>
            </a:extLst>
          </p:cNvPr>
          <p:cNvSpPr txBox="1"/>
          <p:nvPr/>
        </p:nvSpPr>
        <p:spPr>
          <a:xfrm>
            <a:off x="533400" y="3073400"/>
            <a:ext cx="3302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FFFFFF"/>
                </a:solidFill>
                <a:latin typeface="Arial" panose="020B0604020202020204" pitchFamily="34" charset="0"/>
              </a:rPr>
              <a:t>Menjelaskan tujuan Lapor Balik dan mengarahkan warga ke form laporan atau pencarian status.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76CBEE-4643-9A56-A028-A787919E55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0" y="1155700"/>
            <a:ext cx="7531100" cy="4711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F07EEA-A22D-A5E8-CD68-D89998F0C14A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45C45-C07B-05F5-163B-AB8135CB76BE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541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52795-F9E7-6CD8-0899-4AD9A2834B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4192B-7C3E-24A5-8F12-DB8682547ADB}"/>
              </a:ext>
            </a:extLst>
          </p:cNvPr>
          <p:cNvSpPr txBox="1"/>
          <p:nvPr/>
        </p:nvSpPr>
        <p:spPr>
          <a:xfrm>
            <a:off x="533400" y="546100"/>
            <a:ext cx="647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 b="1">
                <a:solidFill>
                  <a:srgbClr val="F5B700"/>
                </a:solidFill>
                <a:latin typeface="Arial" panose="020B0604020202020204" pitchFamily="34" charset="0"/>
              </a:rPr>
              <a:t>Halaman yang sudah jadi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BE3E6-4985-AAB9-3EAB-5E761C65B9F2}"/>
              </a:ext>
            </a:extLst>
          </p:cNvPr>
          <p:cNvSpPr txBox="1"/>
          <p:nvPr/>
        </p:nvSpPr>
        <p:spPr>
          <a:xfrm>
            <a:off x="533400" y="1422400"/>
            <a:ext cx="3365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800" b="1">
                <a:solidFill>
                  <a:srgbClr val="FFFFFF"/>
                </a:solidFill>
                <a:latin typeface="Arial" panose="020B0604020202020204" pitchFamily="34" charset="0"/>
              </a:rPr>
              <a:t>Buat laporan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C3380-C24E-8D98-484F-9C476BE43CEC}"/>
              </a:ext>
            </a:extLst>
          </p:cNvPr>
          <p:cNvSpPr txBox="1"/>
          <p:nvPr/>
        </p:nvSpPr>
        <p:spPr>
          <a:xfrm>
            <a:off x="533400" y="3073400"/>
            <a:ext cx="330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>
                <a:solidFill>
                  <a:srgbClr val="FFFFFF"/>
                </a:solidFill>
                <a:latin typeface="Arial" panose="020B0604020202020204" pitchFamily="34" charset="0"/>
              </a:rPr>
              <a:t>Form mengumpulkan cerita, kategori, dan lokasi. Foto serta akses GPS bersifat opsional.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5C7415-C1E1-153B-A872-33535C97F7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0" y="1155700"/>
            <a:ext cx="7531100" cy="4711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18B06-3F2B-8C73-4D62-2040B40D9598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6416D-C24B-176F-1527-C8DA18BBDB96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DBD2BC"/>
                </a:solidFill>
                <a:latin typeface="Arial" panose="020B06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156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BBE25E-DDF0-8CA5-6890-A559339FD2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BF3B9-04CB-DEDB-ED26-831236C76E6B}"/>
              </a:ext>
            </a:extLst>
          </p:cNvPr>
          <p:cNvSpPr txBox="1"/>
          <p:nvPr/>
        </p:nvSpPr>
        <p:spPr>
          <a:xfrm>
            <a:off x="660400" y="609600"/>
            <a:ext cx="1079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4000" b="1">
                <a:solidFill>
                  <a:srgbClr val="1A1A1A"/>
                </a:solidFill>
                <a:latin typeface="Arial" panose="020B0604020202020204" pitchFamily="34" charset="0"/>
              </a:rPr>
              <a:t>Progress dan langkah berikutnya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C67A79-0832-87DA-62F7-F31347665AFB}"/>
              </a:ext>
            </a:extLst>
          </p:cNvPr>
          <p:cNvCxnSpPr/>
          <p:nvPr/>
        </p:nvCxnSpPr>
        <p:spPr>
          <a:xfrm>
            <a:off x="660400" y="2019300"/>
            <a:ext cx="10871200" cy="0"/>
          </a:xfrm>
          <a:prstGeom prst="line">
            <a:avLst/>
          </a:prstGeom>
          <a:ln w="381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2DEDDEE-278F-E29F-2DAB-00BF1ED98FDE}"/>
              </a:ext>
            </a:extLst>
          </p:cNvPr>
          <p:cNvSpPr txBox="1"/>
          <p:nvPr/>
        </p:nvSpPr>
        <p:spPr>
          <a:xfrm>
            <a:off x="660400" y="24511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400" b="1">
                <a:solidFill>
                  <a:srgbClr val="1A1A1A"/>
                </a:solidFill>
                <a:latin typeface="Arial" panose="020B0604020202020204" pitchFamily="34" charset="0"/>
              </a:rPr>
              <a:t>Sudah ada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41CCD-6DC0-FE9E-3D15-A4D44D6F41D1}"/>
              </a:ext>
            </a:extLst>
          </p:cNvPr>
          <p:cNvSpPr txBox="1"/>
          <p:nvPr/>
        </p:nvSpPr>
        <p:spPr>
          <a:xfrm>
            <a:off x="660400" y="3060700"/>
            <a:ext cx="47117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>
                <a:solidFill>
                  <a:srgbClr val="1A1A1A"/>
                </a:solidFill>
                <a:latin typeface="Arial" panose="020B0604020202020204" pitchFamily="34" charset="0"/>
              </a:rPr>
              <a:t>Landing page, form laporan tiga langkah, nomor tiket, halaman cek status, dan konfirmasi warga dalam demo.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67CB8-C1DC-F2CC-2891-E728BDD602C1}"/>
              </a:ext>
            </a:extLst>
          </p:cNvPr>
          <p:cNvSpPr txBox="1"/>
          <p:nvPr/>
        </p:nvSpPr>
        <p:spPr>
          <a:xfrm>
            <a:off x="6413500" y="2451100"/>
            <a:ext cx="5118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400" b="1">
                <a:solidFill>
                  <a:srgbClr val="1A1A1A"/>
                </a:solidFill>
                <a:latin typeface="Arial" panose="020B0604020202020204" pitchFamily="34" charset="0"/>
              </a:rPr>
              <a:t>Menuju final submission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6B71F-C84B-BB47-183F-71345EDA9FCE}"/>
              </a:ext>
            </a:extLst>
          </p:cNvPr>
          <p:cNvSpPr txBox="1"/>
          <p:nvPr/>
        </p:nvSpPr>
        <p:spPr>
          <a:xfrm>
            <a:off x="6413500" y="3060700"/>
            <a:ext cx="4953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>
                <a:solidFill>
                  <a:srgbClr val="1A1A1A"/>
                </a:solidFill>
                <a:latin typeface="Arial" panose="020B0604020202020204" pitchFamily="34" charset="0"/>
              </a:rPr>
              <a:t>Bangun dashboard petugas dan penyimpanan bersama, lalu uji alur laporan di ponsel. Integrasi ke instansi masih menjadi rencana pengembangan.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B55B7-F1D6-0E3D-F40D-0B03138DD94B}"/>
              </a:ext>
            </a:extLst>
          </p:cNvPr>
          <p:cNvSpPr txBox="1"/>
          <p:nvPr/>
        </p:nvSpPr>
        <p:spPr>
          <a:xfrm>
            <a:off x="660400" y="57785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605B52"/>
                </a:solidFill>
                <a:latin typeface="Arial" panose="020B0604020202020204" pitchFamily="34" charset="0"/>
              </a:rPr>
              <a:t>Repository: github.com/Mawannskie22/triocungpruy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B0E1A-5FB2-2821-F02A-C308D1E60567}"/>
              </a:ext>
            </a:extLst>
          </p:cNvPr>
          <p:cNvSpPr txBox="1"/>
          <p:nvPr/>
        </p:nvSpPr>
        <p:spPr>
          <a:xfrm>
            <a:off x="660400" y="64516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LAPOR BALIK  /  FIRST DRAFT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C8306-D5DB-9B27-B983-8024747F56E0}"/>
              </a:ext>
            </a:extLst>
          </p:cNvPr>
          <p:cNvSpPr txBox="1"/>
          <p:nvPr/>
        </p:nvSpPr>
        <p:spPr>
          <a:xfrm>
            <a:off x="10985500" y="6451600"/>
            <a:ext cx="546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1000" b="1">
                <a:solidFill>
                  <a:srgbClr val="605B52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875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 DARMAWAN SIREGAR</dc:creator>
  <cp:lastModifiedBy>RAHMAN DARMAWAN SIREGAR</cp:lastModifiedBy>
  <cp:revision>1</cp:revision>
  <dcterms:created xsi:type="dcterms:W3CDTF">2026-11-01T04:58:06Z</dcterms:created>
  <dcterms:modified xsi:type="dcterms:W3CDTF">2026-11-01T04:58:06Z</dcterms:modified>
</cp:coreProperties>
</file>